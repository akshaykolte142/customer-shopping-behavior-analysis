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34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Buyers (&gt;5 purchases)</c:v>
                </c:pt>
              </c:strCache>
            </c:strRef>
          </c:tx>
          <c:spPr>
            <a:solidFill>
              <a:srgbClr val="F2A3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Subscribed</c:v>
                  </c:pt>
                  <c:pt idx="1">
                    <c:v>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2518</c:v>
                </c:pt>
                <c:pt idx="1">
                  <c:v>958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Rating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Skirt</c:v>
                  </c:pt>
                  <c:pt idx="1">
                    <c:v>Hat</c:v>
                  </c:pt>
                  <c:pt idx="2">
                    <c:v>Boots</c:v>
                  </c:pt>
                  <c:pt idx="3">
                    <c:v>Sandals</c:v>
                  </c:pt>
                  <c:pt idx="4">
                    <c:v>Gloves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3.78</c:v>
                </c:pt>
                <c:pt idx="1">
                  <c:v>3.8</c:v>
                </c:pt>
                <c:pt idx="2">
                  <c:v>3.82</c:v>
                </c:pt>
                <c:pt idx="3">
                  <c:v>3.84</c:v>
                </c:pt>
                <c:pt idx="4">
                  <c:v>3.86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6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Purchases Discounted</c:v>
                </c:pt>
              </c:strCache>
            </c:strRef>
          </c:tx>
          <c:spPr>
            <a:solidFill>
              <a:srgbClr val="F2A34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Pants</c:v>
                  </c:pt>
                  <c:pt idx="1">
                    <c:v>Sweater</c:v>
                  </c:pt>
                  <c:pt idx="2">
                    <c:v>Coat</c:v>
                  </c:pt>
                  <c:pt idx="3">
                    <c:v>Sneakers</c:v>
                  </c:pt>
                  <c:pt idx="4">
                    <c:v>Hat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47.37</c:v>
                </c:pt>
                <c:pt idx="1">
                  <c:v>48.17</c:v>
                </c:pt>
                <c:pt idx="2">
                  <c:v>49.07</c:v>
                </c:pt>
                <c:pt idx="3">
                  <c:v>49.66</c:v>
                </c:pt>
                <c:pt idx="4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4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•  DATA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3,900 transactions into customer insight and business recommendations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F2A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489204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F2A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8920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/  POSTGRESQL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489204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F2A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8920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61722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COVERS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5" name="Image 0" descr="/home/claude/pp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196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1671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company needed this analysis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607040" y="1856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2715768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10" name="Image 1" descr="/home/claude/ppt/icons/work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529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6609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00200" y="300837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prep → SQL analysis → Power BI dashboard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60704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822960" y="3557016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15" name="Image 2" descr="/home/claude/ppt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941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02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00200" y="38496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SQL queries answering real business questions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607040" y="35387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822960" y="4398264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20" name="Image 3" descr="/home/claude/ppt/icons/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3542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343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600200" y="46908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Power BI view for stakeholders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607040" y="43799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22960" y="5239512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25" name="Image 4" descr="/home/claude/ppt/icons/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37667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184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600200" y="5532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concrete, data-backed next steps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607040" y="52212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Analysis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retail company noticed shifting purchase patterns across demographics, product categories, and channels. Leadership needed to know which factors — discounts, reviews, seasonality, payment preferences — actually drive purchases and repeat business.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 the raw data (Python)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run the SQL analysis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Power BI dashboard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findings &amp; recommendations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1691640"/>
            <a:ext cx="4663440" cy="4434840"/>
          </a:xfrm>
          <a:prstGeom prst="roundRect">
            <a:avLst>
              <a:gd name="adj" fmla="val 2474"/>
            </a:avLst>
          </a:prstGeom>
          <a:solidFill>
            <a:srgbClr val="141B4D"/>
          </a:solidFill>
          <a:ln w="12700">
            <a:solidFill>
              <a:srgbClr val="F2A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406640" y="25146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company leverage consumer shopping data to identify trends, improve customer engagement, and optimize marketing and product strategies?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0" y="5257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OVERARCHING BUSINESS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Three-Layer Analytics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560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593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3,900 rows, imputed ratings by category median, engineered age_group &amp; purchase_frequency_days fields.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31920" y="3566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89120" y="205740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EEF3FD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p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60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17720" y="3593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Analysis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63440" y="4114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PostgreSQL; wrote 10 queries answering targeted revenue, loyalty &amp; product questions.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680960" y="3566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138160" y="205740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EEF3FD"/>
          </a:solidFill>
          <a:ln/>
        </p:spPr>
      </p:sp>
      <p:sp>
        <p:nvSpPr>
          <p:cNvPr id="19" name="Shape 15"/>
          <p:cNvSpPr/>
          <p:nvPr/>
        </p:nvSpPr>
        <p:spPr>
          <a:xfrm>
            <a:off x="946404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pt/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5603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66760" y="3593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412480" y="4114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slicers so stakeholders can self-serve without writing queries.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Analysis-Ready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299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9202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20299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0690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9202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20299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4980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 Imputed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STEPS (PYTHON / PANDAS)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review ratings using each product category's median (not a global average)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names to snake_case; renamed purchase amount field for consistency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age_group via quantile binning and purchase_frequency_days from text labels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promo_code_used after confirming it duplicated discount_applied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cleaned DataFrame into PostgreSQL via SQLAlchemy for SQL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1641348" y="2514600"/>
            <a:ext cx="603504" cy="603504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6" name="Image 0" descr="/home/claude/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26517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21945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10" name="Shape 7"/>
          <p:cNvSpPr/>
          <p:nvPr/>
        </p:nvSpPr>
        <p:spPr>
          <a:xfrm>
            <a:off x="4475988" y="2514600"/>
            <a:ext cx="603504" cy="603504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11" name="Image 1" descr="/home/claude/ppt/icons/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6517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337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61188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21945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0628" y="2514600"/>
            <a:ext cx="603504" cy="603504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16" name="Image 2" descr="/home/claude/ppt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26517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337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44652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44000" y="21945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45268" y="2514600"/>
            <a:ext cx="603504" cy="603504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21" name="Image 3" descr="/home/claude/ppt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428" y="265176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337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28116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to Loyalty Program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577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dashboard, built from the cleaned &amp; queried customer dataset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Skews Heavily Male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828800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0" y="28803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male customers — more than double the female share (32%).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93192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42519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sharpest revenue split in the dataset — wider than any age-group difference. Worth a follow-up query on customer counts by gender to see if it's a spend gap or a headcount gap.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Buyers Aren't Being Converted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828800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0" y="28803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proven repeat buyers (2,518 of 3,476 with 5+ purchases) are still not subscribed.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931920" cy="0"/>
          </a:xfrm>
          <a:prstGeom prst="line">
            <a:avLst/>
          </a:prstGeom>
          <a:noFill/>
          <a:ln w="12700">
            <a:solidFill>
              <a:srgbClr val="3A44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425196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highest-priority opportunity in the data — a warm, low-effort audience for a targeted subscription campaign. Note: subscribers currently spend slightly less per order than non-subscribers, so the pitch should lead with perks, not bigger baskets.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Top-Rated Products Also Lean on Discounts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REVIEW RATING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DISCOUNT-DEPENDENCY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45352" y="20116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appears on both lists — a highly-rated product that still relies on discounting for half its sales, a strong candidate for a full-price test.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subscription status, gender, category &amp; shipping type let stakeholders self-serve without writing a query.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5490" y="1828800"/>
            <a:ext cx="8157973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pt/assets/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1965960"/>
            <a:ext cx="7883653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Data-Backed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556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repeat buyers to subscribers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21031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2,518 non-subscribed customers with 5+ purchases first.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7556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gender revenue gap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949440" y="21031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customer counts by gender to find a spend-gap vs. count-gap.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/icons/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172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discount-dependent products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25880" y="35204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full-price or bundled offers on Hat, Sneakers, Coat, Sweater, Pants.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8328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172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acquisition gap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949440" y="35204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2% of customers are "New" — audit top-of-funnel marketing spend.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ppt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0060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5902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marketing broad by age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25880" y="49377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nearly flat across age groups — segment by loyalty, not age.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1668780" y="2240280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6" name="Image 0" descr="/home/claude/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2377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pandas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imputation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DB integration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10" name="Shape 7"/>
          <p:cNvSpPr/>
          <p:nvPr/>
        </p:nvSpPr>
        <p:spPr>
          <a:xfrm>
            <a:off x="4503420" y="2240280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11" name="Image 1" descr="/home/claude/pp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/ PostgreSQL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30752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&amp; subqueries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(ROW_NUMBER)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for segmentation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15" name="Shape 11"/>
          <p:cNvSpPr/>
          <p:nvPr/>
        </p:nvSpPr>
        <p:spPr>
          <a:xfrm>
            <a:off x="7338060" y="2240280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16" name="Image 2" descr="/home/claude/ppt/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23774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65392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&amp; filters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&amp; DAX measures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dashboards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196596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72700" y="2240280"/>
            <a:ext cx="548640" cy="548640"/>
          </a:xfrm>
          <a:prstGeom prst="ellipse">
            <a:avLst/>
          </a:prstGeom>
          <a:solidFill>
            <a:srgbClr val="F2A340"/>
          </a:solidFill>
          <a:ln/>
        </p:spPr>
      </p:sp>
      <p:pic>
        <p:nvPicPr>
          <p:cNvPr id="21" name="Image 3" descr="/home/claude/ppt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860" y="23774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00032" y="35204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Executive-ready reporting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write-up, SQL scripts, Python notebook &amp; dashboard file available on request.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2026-09-09T07:42:27Z</dcterms:created>
  <dcterms:modified xsi:type="dcterms:W3CDTF">2026-09-09T07:42:27Z</dcterms:modified>
</cp:coreProperties>
</file>